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29LT Riwaya" panose="020B0604020202020204" charset="-78"/>
      <p:regular r:id="rId9"/>
    </p:embeddedFont>
    <p:embeddedFont>
      <p:font typeface="Boston Angel" panose="020B0604020202020204" charset="0"/>
      <p:regular r:id="rId10"/>
    </p:embeddedFon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Open Sans" panose="020B0606030504020204" pitchFamily="3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840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68061" y="7310520"/>
            <a:ext cx="3255989" cy="2504607"/>
          </a:xfrm>
          <a:custGeom>
            <a:avLst/>
            <a:gdLst/>
            <a:ahLst/>
            <a:cxnLst/>
            <a:rect l="l" t="t" r="r" b="b"/>
            <a:pathLst>
              <a:path w="3255989" h="2504607">
                <a:moveTo>
                  <a:pt x="0" y="0"/>
                </a:moveTo>
                <a:lnTo>
                  <a:pt x="3255989" y="0"/>
                </a:lnTo>
                <a:lnTo>
                  <a:pt x="3255989" y="2504607"/>
                </a:lnTo>
                <a:lnTo>
                  <a:pt x="0" y="25046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1148"/>
            <a:ext cx="16230600" cy="1510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5"/>
              </a:lnSpc>
              <a:spcBef>
                <a:spcPct val="0"/>
              </a:spcBef>
            </a:pPr>
            <a:r>
              <a:rPr lang="en-US" sz="8396" spc="419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Intr</a:t>
            </a:r>
            <a:r>
              <a:rPr lang="en-US" sz="8396" u="none" strike="noStrike" spc="419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oduction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3525" y="3377121"/>
            <a:ext cx="16078388" cy="1583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1" lvl="1" indent="-474980" algn="l">
              <a:lnSpc>
                <a:spcPts val="6160"/>
              </a:lnSpc>
              <a:spcBef>
                <a:spcPct val="0"/>
              </a:spcBef>
              <a:buFont typeface="Arial"/>
              <a:buChar char="•"/>
            </a:pPr>
            <a:r>
              <a:rPr lang="en-US" sz="4400" spc="220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Mise à jour de certains éléments après la première révision du projet (cas d’utilisation, déploiement, Gantt).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349" y="5864002"/>
            <a:ext cx="16219564" cy="2364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1" lvl="1" indent="-474980" algn="l">
              <a:lnSpc>
                <a:spcPts val="6160"/>
              </a:lnSpc>
              <a:spcBef>
                <a:spcPct val="0"/>
              </a:spcBef>
              <a:buFont typeface="Arial"/>
              <a:buChar char="•"/>
            </a:pPr>
            <a:r>
              <a:rPr lang="en-US" sz="4400" spc="220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Création de nouveaux diagrammes : diagramme de classes et diagramme de réseau.</a:t>
            </a:r>
          </a:p>
          <a:p>
            <a:pPr algn="l">
              <a:lnSpc>
                <a:spcPts val="6160"/>
              </a:lnSpc>
              <a:spcBef>
                <a:spcPct val="0"/>
              </a:spcBef>
            </a:pPr>
            <a:endParaRPr lang="en-US" sz="4400" spc="220">
              <a:solidFill>
                <a:srgbClr val="56678D"/>
              </a:solidFill>
              <a:latin typeface="Boston Angel"/>
              <a:ea typeface="Boston Angel"/>
              <a:cs typeface="Boston Angel"/>
              <a:sym typeface="Boston Ange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324600" y="2631893"/>
            <a:ext cx="10406686" cy="6846684"/>
          </a:xfrm>
          <a:custGeom>
            <a:avLst/>
            <a:gdLst/>
            <a:ahLst/>
            <a:cxnLst/>
            <a:rect l="l" t="t" r="r" b="b"/>
            <a:pathLst>
              <a:path w="9171640" h="5755204">
                <a:moveTo>
                  <a:pt x="0" y="0"/>
                </a:moveTo>
                <a:lnTo>
                  <a:pt x="9171640" y="0"/>
                </a:lnTo>
                <a:lnTo>
                  <a:pt x="9171640" y="5755204"/>
                </a:lnTo>
                <a:lnTo>
                  <a:pt x="0" y="57552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38822" y="3420264"/>
            <a:ext cx="6424345" cy="2469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60"/>
              </a:lnSpc>
            </a:pPr>
            <a:r>
              <a:rPr lang="en-US" sz="3543" spc="106">
                <a:solidFill>
                  <a:srgbClr val="56678D"/>
                </a:solidFill>
                <a:latin typeface="29LT Riwaya"/>
                <a:ea typeface="29LT Riwaya"/>
                <a:cs typeface="29LT Riwaya"/>
                <a:sym typeface="29LT Riwaya"/>
              </a:rPr>
              <a:t>Comme la revue N°1, nous avons réparti les tâches pour un travail efficace. Ce diagramme a été corrigé par l'étudiant 3.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1121148"/>
            <a:ext cx="16230600" cy="1510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5"/>
              </a:lnSpc>
              <a:spcBef>
                <a:spcPct val="0"/>
              </a:spcBef>
            </a:pPr>
            <a:r>
              <a:rPr lang="en-US" sz="8396" spc="419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Diagramme de déploiement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501285" y="2781301"/>
            <a:ext cx="14024715" cy="6900448"/>
          </a:xfrm>
          <a:custGeom>
            <a:avLst/>
            <a:gdLst/>
            <a:ahLst/>
            <a:cxnLst/>
            <a:rect l="l" t="t" r="r" b="b"/>
            <a:pathLst>
              <a:path w="13687377" h="6125101">
                <a:moveTo>
                  <a:pt x="0" y="0"/>
                </a:moveTo>
                <a:lnTo>
                  <a:pt x="13687376" y="0"/>
                </a:lnTo>
                <a:lnTo>
                  <a:pt x="13687376" y="6125101"/>
                </a:lnTo>
                <a:lnTo>
                  <a:pt x="0" y="61251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76469" y="3420264"/>
            <a:ext cx="3431418" cy="3092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60"/>
              </a:lnSpc>
            </a:pPr>
            <a:r>
              <a:rPr lang="en-US" sz="3543" spc="106">
                <a:solidFill>
                  <a:srgbClr val="56678D"/>
                </a:solidFill>
                <a:latin typeface="29LT Riwaya"/>
                <a:ea typeface="29LT Riwaya"/>
                <a:cs typeface="29LT Riwaya"/>
                <a:sym typeface="29LT Riwaya"/>
              </a:rPr>
              <a:t>Nous avons également pu corrigé le diagramme de classe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1121148"/>
            <a:ext cx="16230600" cy="1510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5"/>
              </a:lnSpc>
              <a:spcBef>
                <a:spcPct val="0"/>
              </a:spcBef>
            </a:pPr>
            <a:r>
              <a:rPr lang="en-US" sz="8396" spc="419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Diagramme de classe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906000" y="2857500"/>
            <a:ext cx="7156365" cy="6761956"/>
          </a:xfrm>
          <a:custGeom>
            <a:avLst/>
            <a:gdLst/>
            <a:ahLst/>
            <a:cxnLst/>
            <a:rect l="l" t="t" r="r" b="b"/>
            <a:pathLst>
              <a:path w="5022765" h="5999956">
                <a:moveTo>
                  <a:pt x="0" y="0"/>
                </a:moveTo>
                <a:lnTo>
                  <a:pt x="5022765" y="0"/>
                </a:lnTo>
                <a:lnTo>
                  <a:pt x="5022765" y="5999956"/>
                </a:lnTo>
                <a:lnTo>
                  <a:pt x="0" y="59999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69591" y="3268562"/>
            <a:ext cx="9202412" cy="4059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35253" lvl="1" indent="-417627" algn="l">
              <a:lnSpc>
                <a:spcPts val="5416"/>
              </a:lnSpc>
              <a:buFont typeface="Arial"/>
              <a:buChar char="•"/>
            </a:pPr>
            <a:r>
              <a:rPr lang="en-US" sz="3868" spc="116">
                <a:solidFill>
                  <a:srgbClr val="56678D"/>
                </a:solidFill>
                <a:latin typeface="29LT Riwaya"/>
                <a:ea typeface="29LT Riwaya"/>
                <a:cs typeface="29LT Riwaya"/>
                <a:sym typeface="29LT Riwaya"/>
              </a:rPr>
              <a:t>Cette simulation permet de modéliser l’architecture réseau.</a:t>
            </a:r>
          </a:p>
          <a:p>
            <a:pPr algn="l">
              <a:lnSpc>
                <a:spcPts val="5416"/>
              </a:lnSpc>
            </a:pPr>
            <a:endParaRPr lang="en-US" sz="3868" spc="116">
              <a:solidFill>
                <a:srgbClr val="56678D"/>
              </a:solidFill>
              <a:latin typeface="29LT Riwaya"/>
              <a:ea typeface="29LT Riwaya"/>
              <a:cs typeface="29LT Riwaya"/>
              <a:sym typeface="29LT Riwaya"/>
            </a:endParaRPr>
          </a:p>
          <a:p>
            <a:pPr marL="835253" lvl="1" indent="-417627" algn="l">
              <a:lnSpc>
                <a:spcPts val="5416"/>
              </a:lnSpc>
              <a:buFont typeface="Arial"/>
              <a:buChar char="•"/>
            </a:pPr>
            <a:r>
              <a:rPr lang="en-US" sz="3868" spc="116">
                <a:solidFill>
                  <a:srgbClr val="56678D"/>
                </a:solidFill>
                <a:latin typeface="29LT Riwaya"/>
                <a:ea typeface="29LT Riwaya"/>
                <a:cs typeface="29LT Riwaya"/>
                <a:sym typeface="29LT Riwaya"/>
              </a:rPr>
              <a:t>Elle évite d’utiliser directement le matériel physique.</a:t>
            </a:r>
          </a:p>
          <a:p>
            <a:pPr algn="l">
              <a:lnSpc>
                <a:spcPts val="5416"/>
              </a:lnSpc>
            </a:pPr>
            <a:endParaRPr lang="en-US" sz="3868" spc="116">
              <a:solidFill>
                <a:srgbClr val="56678D"/>
              </a:solidFill>
              <a:latin typeface="29LT Riwaya"/>
              <a:ea typeface="29LT Riwaya"/>
              <a:cs typeface="29LT Riwaya"/>
              <a:sym typeface="29LT Riway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1121148"/>
            <a:ext cx="16230600" cy="1510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5"/>
              </a:lnSpc>
              <a:spcBef>
                <a:spcPct val="0"/>
              </a:spcBef>
            </a:pPr>
            <a:r>
              <a:rPr lang="en-US" sz="8396" spc="419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Diagramme de réseau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924800" y="2723803"/>
            <a:ext cx="9829800" cy="6763098"/>
          </a:xfrm>
          <a:custGeom>
            <a:avLst/>
            <a:gdLst/>
            <a:ahLst/>
            <a:cxnLst/>
            <a:rect l="l" t="t" r="r" b="b"/>
            <a:pathLst>
              <a:path w="8887393" h="4506377">
                <a:moveTo>
                  <a:pt x="0" y="0"/>
                </a:moveTo>
                <a:lnTo>
                  <a:pt x="8887393" y="0"/>
                </a:lnTo>
                <a:lnTo>
                  <a:pt x="8887393" y="4506377"/>
                </a:lnTo>
                <a:lnTo>
                  <a:pt x="0" y="45063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116" r="-1523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33021" y="2723802"/>
            <a:ext cx="7418801" cy="6518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02554" lvl="1" indent="-401277" algn="l">
              <a:lnSpc>
                <a:spcPts val="5204"/>
              </a:lnSpc>
              <a:buFont typeface="Arial"/>
              <a:buChar char="•"/>
            </a:pPr>
            <a:r>
              <a:rPr lang="en-US" sz="3717" spc="111">
                <a:solidFill>
                  <a:srgbClr val="56678D"/>
                </a:solidFill>
                <a:latin typeface="29LT Riwaya"/>
                <a:ea typeface="29LT Riwaya"/>
                <a:cs typeface="29LT Riwaya"/>
                <a:sym typeface="29LT Riwaya"/>
              </a:rPr>
              <a:t>mise en place, avec l’aide de camarades d’un autre groupe, un logiciel de versionning.</a:t>
            </a:r>
          </a:p>
          <a:p>
            <a:pPr algn="l">
              <a:lnSpc>
                <a:spcPts val="5204"/>
              </a:lnSpc>
            </a:pPr>
            <a:endParaRPr lang="en-US" sz="3717" spc="111">
              <a:solidFill>
                <a:srgbClr val="56678D"/>
              </a:solidFill>
              <a:latin typeface="29LT Riwaya"/>
              <a:ea typeface="29LT Riwaya"/>
              <a:cs typeface="29LT Riwaya"/>
              <a:sym typeface="29LT Riwaya"/>
            </a:endParaRPr>
          </a:p>
          <a:p>
            <a:pPr marL="802554" lvl="1" indent="-401277" algn="l">
              <a:lnSpc>
                <a:spcPts val="5204"/>
              </a:lnSpc>
              <a:buFont typeface="Arial"/>
              <a:buChar char="•"/>
            </a:pPr>
            <a:r>
              <a:rPr lang="en-US" sz="3717" spc="111">
                <a:solidFill>
                  <a:srgbClr val="56678D"/>
                </a:solidFill>
                <a:latin typeface="29LT Riwaya"/>
                <a:ea typeface="29LT Riwaya"/>
                <a:cs typeface="29LT Riwaya"/>
                <a:sym typeface="29LT Riwaya"/>
              </a:rPr>
              <a:t>Il facilite la collaboration avec le reste du groupe InfoProd.</a:t>
            </a:r>
          </a:p>
          <a:p>
            <a:pPr algn="l">
              <a:lnSpc>
                <a:spcPts val="5204"/>
              </a:lnSpc>
            </a:pPr>
            <a:endParaRPr lang="en-US" sz="3717" spc="111">
              <a:solidFill>
                <a:srgbClr val="56678D"/>
              </a:solidFill>
              <a:latin typeface="29LT Riwaya"/>
              <a:ea typeface="29LT Riwaya"/>
              <a:cs typeface="29LT Riwaya"/>
              <a:sym typeface="29LT Riwaya"/>
            </a:endParaRPr>
          </a:p>
          <a:p>
            <a:pPr marL="802554" lvl="1" indent="-401277" algn="l">
              <a:lnSpc>
                <a:spcPts val="5204"/>
              </a:lnSpc>
              <a:buFont typeface="Arial"/>
              <a:buChar char="•"/>
            </a:pPr>
            <a:r>
              <a:rPr lang="en-US" sz="3717" spc="111">
                <a:solidFill>
                  <a:srgbClr val="56678D"/>
                </a:solidFill>
                <a:latin typeface="29LT Riwaya"/>
                <a:ea typeface="29LT Riwaya"/>
                <a:cs typeface="29LT Riwaya"/>
                <a:sym typeface="29LT Riwaya"/>
              </a:rPr>
              <a:t>et outil m’a beaucoup aidé pour le partage de fichiers.</a:t>
            </a:r>
          </a:p>
          <a:p>
            <a:pPr algn="l">
              <a:lnSpc>
                <a:spcPts val="5204"/>
              </a:lnSpc>
            </a:pPr>
            <a:endParaRPr lang="en-US" sz="3717" spc="111">
              <a:solidFill>
                <a:srgbClr val="56678D"/>
              </a:solidFill>
              <a:latin typeface="29LT Riwaya"/>
              <a:ea typeface="29LT Riwaya"/>
              <a:cs typeface="29LT Riwaya"/>
              <a:sym typeface="29LT Riway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1121148"/>
            <a:ext cx="16230600" cy="1510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5"/>
              </a:lnSpc>
              <a:spcBef>
                <a:spcPct val="0"/>
              </a:spcBef>
            </a:pPr>
            <a:r>
              <a:rPr lang="en-US" sz="8396" spc="419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Github Desktop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5401" y="2857500"/>
            <a:ext cx="15963900" cy="7010400"/>
          </a:xfrm>
          <a:custGeom>
            <a:avLst/>
            <a:gdLst/>
            <a:ahLst/>
            <a:cxnLst/>
            <a:rect l="l" t="t" r="r" b="b"/>
            <a:pathLst>
              <a:path w="12434821" h="6043279">
                <a:moveTo>
                  <a:pt x="0" y="0"/>
                </a:moveTo>
                <a:lnTo>
                  <a:pt x="12434822" y="0"/>
                </a:lnTo>
                <a:lnTo>
                  <a:pt x="12434822" y="6043279"/>
                </a:lnTo>
                <a:lnTo>
                  <a:pt x="0" y="60432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087" r="-1135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3261174"/>
            <a:ext cx="4965954" cy="635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02554" lvl="1" indent="-401277" algn="l">
              <a:lnSpc>
                <a:spcPts val="5204"/>
              </a:lnSpc>
              <a:buFont typeface="Arial"/>
              <a:buChar char="•"/>
            </a:pPr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028700" y="1121148"/>
            <a:ext cx="16230600" cy="1510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5"/>
              </a:lnSpc>
              <a:spcBef>
                <a:spcPct val="0"/>
              </a:spcBef>
            </a:pPr>
            <a:r>
              <a:rPr lang="en-US" sz="8396" spc="419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Diagramme de cas d'utilisation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919965" y="2924847"/>
            <a:ext cx="9670739" cy="7004507"/>
          </a:xfrm>
          <a:custGeom>
            <a:avLst/>
            <a:gdLst/>
            <a:ahLst/>
            <a:cxnLst/>
            <a:rect l="l" t="t" r="r" b="b"/>
            <a:pathLst>
              <a:path w="9351545" h="7004507">
                <a:moveTo>
                  <a:pt x="0" y="0"/>
                </a:moveTo>
                <a:lnTo>
                  <a:pt x="9351545" y="0"/>
                </a:lnTo>
                <a:lnTo>
                  <a:pt x="9351545" y="7004508"/>
                </a:lnTo>
                <a:lnTo>
                  <a:pt x="0" y="7004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5" b="-65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1148"/>
            <a:ext cx="16230600" cy="1510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5"/>
              </a:lnSpc>
              <a:spcBef>
                <a:spcPct val="0"/>
              </a:spcBef>
            </a:pPr>
            <a:r>
              <a:rPr lang="en-US" sz="8396" spc="419">
                <a:solidFill>
                  <a:srgbClr val="56678D"/>
                </a:solidFill>
                <a:latin typeface="Boston Angel"/>
                <a:ea typeface="Boston Angel"/>
                <a:cs typeface="Boston Angel"/>
                <a:sym typeface="Boston Angel"/>
              </a:rPr>
              <a:t>Diagramme de séquence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0435" y="3257396"/>
            <a:ext cx="7509530" cy="54418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1" lvl="1" indent="-474980" algn="ctr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56678D"/>
                </a:solidFill>
                <a:latin typeface="Open Sans"/>
                <a:ea typeface="Open Sans"/>
                <a:cs typeface="Open Sans"/>
                <a:sym typeface="Open Sans"/>
              </a:rPr>
              <a:t>L’utilisateur regarde l’écran</a:t>
            </a:r>
          </a:p>
          <a:p>
            <a:pPr marL="949961" lvl="1" indent="-474980" algn="ctr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56678D"/>
                </a:solidFill>
                <a:latin typeface="Open Sans"/>
                <a:ea typeface="Open Sans"/>
                <a:cs typeface="Open Sans"/>
                <a:sym typeface="Open Sans"/>
              </a:rPr>
              <a:t>Le Raspberry Pi lit la production d’énergie auprès des capteurs</a:t>
            </a:r>
          </a:p>
          <a:p>
            <a:pPr marL="949961" lvl="1" indent="-474980" algn="ctr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56678D"/>
                </a:solidFill>
                <a:latin typeface="Open Sans"/>
                <a:ea typeface="Open Sans"/>
                <a:cs typeface="Open Sans"/>
                <a:sym typeface="Open Sans"/>
              </a:rPr>
              <a:t>L’écran LCD affiche enfin les valeurs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PresentationFormat>Personnalisé</PresentationFormat>
  <Paragraphs>22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Calibri</vt:lpstr>
      <vt:lpstr>29LT Riwaya</vt:lpstr>
      <vt:lpstr>Open Sans</vt:lpstr>
      <vt:lpstr>Arial</vt:lpstr>
      <vt:lpstr>Boston Angel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 : Henriette Poulain- Bureau de style Nomade</dc:title>
  <dc:creator>Florian BSL</dc:creator>
  <cp:lastModifiedBy>Florian BSL</cp:lastModifiedBy>
  <cp:revision>2</cp:revision>
  <dcterms:created xsi:type="dcterms:W3CDTF">2006-08-16T00:00:00Z</dcterms:created>
  <dcterms:modified xsi:type="dcterms:W3CDTF">2026-02-23T02:24:15Z</dcterms:modified>
  <dc:identifier>DAHB-n0B7cc</dc:identifier>
</cp:coreProperties>
</file>